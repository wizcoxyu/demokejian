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6" roundtripDataSignature="AMtx7mjWqCP5wUMVrlyfC0RT1uiQi6Gb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2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400">
                <a:solidFill>
                  <a:srgbClr val="000000"/>
                </a:solidFill>
              </a:rPr>
              <a:t>speak about PHYS dept offering PHYS 170 during winter session</a:t>
            </a:r>
            <a:endParaRPr b="1" sz="2400">
              <a:solidFill>
                <a:srgbClr val="000000"/>
              </a:solidFill>
            </a:endParaRPr>
          </a:p>
        </p:txBody>
      </p:sp>
      <p:sp>
        <p:nvSpPr>
          <p:cNvPr id="370" name="Google Shape;3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70511bb7f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70511bb7f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70511bb7f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6225e60770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2" name="Google Shape;442;g6225e60770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6225e60770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5" name="Google Shape;455;g6225e60770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63e0ec693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7" name="Google Shape;467;g63e0ec693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5" name="Google Shape;4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0" name="Google Shape;48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8" name="Google Shape;48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63f7dd79d6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7" name="Google Shape;517;g63f7dd79d6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7" name="Google Shape;52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63f7dd79d6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9" name="Google Shape;539;g63f7dd79d6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8" name="Google Shape;54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7" name="Google Shape;17;p18"/>
            <p:cNvSpPr/>
            <p:nvPr/>
          </p:nvSpPr>
          <p:spPr>
            <a:xfrm>
              <a:off x="-329674" y="1298404"/>
              <a:ext cx="9702800" cy="5573512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8"/>
            <p:cNvSpPr/>
            <p:nvPr/>
          </p:nvSpPr>
          <p:spPr>
            <a:xfrm>
              <a:off x="670451" y="2018236"/>
              <a:ext cx="7373938" cy="4848892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8"/>
            <p:cNvSpPr/>
            <p:nvPr/>
          </p:nvSpPr>
          <p:spPr>
            <a:xfrm>
              <a:off x="251351" y="1788400"/>
              <a:ext cx="8035925" cy="5083516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8"/>
            <p:cNvSpPr/>
            <p:nvPr/>
          </p:nvSpPr>
          <p:spPr>
            <a:xfrm>
              <a:off x="-1061" y="549842"/>
              <a:ext cx="10334625" cy="6322075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8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8"/>
            <p:cNvSpPr/>
            <p:nvPr/>
          </p:nvSpPr>
          <p:spPr>
            <a:xfrm>
              <a:off x="-1061" y="-51881"/>
              <a:ext cx="11091863" cy="6923796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8"/>
            <p:cNvSpPr/>
            <p:nvPr/>
          </p:nvSpPr>
          <p:spPr>
            <a:xfrm>
              <a:off x="5426601" y="5579"/>
              <a:ext cx="5788025" cy="6847184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8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8"/>
            <p:cNvSpPr/>
            <p:nvPr/>
          </p:nvSpPr>
          <p:spPr>
            <a:xfrm>
              <a:off x="5821889" y="5579"/>
              <a:ext cx="5588000" cy="6866337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8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8"/>
            <p:cNvSpPr/>
            <p:nvPr/>
          </p:nvSpPr>
          <p:spPr>
            <a:xfrm>
              <a:off x="6012389" y="5579"/>
              <a:ext cx="5497513" cy="6866337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8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8"/>
            <p:cNvSpPr/>
            <p:nvPr/>
          </p:nvSpPr>
          <p:spPr>
            <a:xfrm>
              <a:off x="6210826" y="790"/>
              <a:ext cx="5522913" cy="6871126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8"/>
            <p:cNvSpPr/>
            <p:nvPr/>
          </p:nvSpPr>
          <p:spPr>
            <a:xfrm>
              <a:off x="6463239" y="5579"/>
              <a:ext cx="5413375" cy="6866337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8"/>
            <p:cNvSpPr/>
            <p:nvPr/>
          </p:nvSpPr>
          <p:spPr>
            <a:xfrm>
              <a:off x="6877576" y="5579"/>
              <a:ext cx="5037138" cy="6861550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8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8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8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8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" name="Google Shape;36;p1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7" name="Google Shape;37;p1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8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8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" name="Google Shape;40;p18"/>
          <p:cNvSpPr txBox="1"/>
          <p:nvPr>
            <p:ph type="ctrTitle"/>
          </p:nvPr>
        </p:nvSpPr>
        <p:spPr>
          <a:xfrm>
            <a:off x="1759236" y="2075504"/>
            <a:ext cx="8679915" cy="17487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5400"/>
              <a:buFont typeface="Calibri"/>
              <a:buNone/>
              <a:defRPr sz="5400"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" type="subTitle"/>
          </p:nvPr>
        </p:nvSpPr>
        <p:spPr>
          <a:xfrm>
            <a:off x="1759237" y="3906266"/>
            <a:ext cx="8673427" cy="132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  <a:defRPr b="0" sz="1800">
                <a:solidFill>
                  <a:srgbClr val="FFFEF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20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7" name="Google Shape;47;p20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0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0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0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0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0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0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0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0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0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0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0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0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0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0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0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0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0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0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0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0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" name="Google Shape;68;p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9" name="Google Shape;69;p20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0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0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20"/>
          <p:cNvSpPr txBox="1"/>
          <p:nvPr>
            <p:ph type="title"/>
          </p:nvPr>
        </p:nvSpPr>
        <p:spPr>
          <a:xfrm>
            <a:off x="889000" y="2339669"/>
            <a:ext cx="3500828" cy="2470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" type="body"/>
          </p:nvPr>
        </p:nvSpPr>
        <p:spPr>
          <a:xfrm>
            <a:off x="5120878" y="803187"/>
            <a:ext cx="6269591" cy="2382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29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29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29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29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29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2" type="body"/>
          </p:nvPr>
        </p:nvSpPr>
        <p:spPr>
          <a:xfrm>
            <a:off x="5118447" y="3672162"/>
            <a:ext cx="6272022" cy="2383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29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29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29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29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29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1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0" name="Google Shape;80;p19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9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9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9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9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9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9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9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9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9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9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9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9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9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9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9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9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9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9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9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9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19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102" name="Google Shape;102;p1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9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19"/>
          <p:cNvSpPr txBox="1"/>
          <p:nvPr>
            <p:ph type="title"/>
          </p:nvPr>
        </p:nvSpPr>
        <p:spPr>
          <a:xfrm>
            <a:off x="888631" y="2349925"/>
            <a:ext cx="3498979" cy="24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5118447" y="803186"/>
            <a:ext cx="6281873" cy="5248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29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29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29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29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29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22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2" name="Google Shape;112;p22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2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2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2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2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2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2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2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2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2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2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2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2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2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2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2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2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2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2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2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2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" name="Google Shape;133;p22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134" name="Google Shape;134;p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" name="Google Shape;137;p22"/>
          <p:cNvSpPr txBox="1"/>
          <p:nvPr>
            <p:ph type="title"/>
          </p:nvPr>
        </p:nvSpPr>
        <p:spPr>
          <a:xfrm>
            <a:off x="889001" y="2363915"/>
            <a:ext cx="3500828" cy="246049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5125137" y="803185"/>
            <a:ext cx="62650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2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9pPr>
          </a:lstStyle>
          <a:p/>
        </p:txBody>
      </p:sp>
      <p:sp>
        <p:nvSpPr>
          <p:cNvPr id="139" name="Google Shape;139;p22"/>
          <p:cNvSpPr txBox="1"/>
          <p:nvPr>
            <p:ph idx="2" type="body"/>
          </p:nvPr>
        </p:nvSpPr>
        <p:spPr>
          <a:xfrm>
            <a:off x="5125305" y="1488985"/>
            <a:ext cx="6264350" cy="1696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29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29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29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29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29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140" name="Google Shape;140;p22"/>
          <p:cNvSpPr txBox="1"/>
          <p:nvPr>
            <p:ph idx="3" type="body"/>
          </p:nvPr>
        </p:nvSpPr>
        <p:spPr>
          <a:xfrm>
            <a:off x="5118653" y="3665887"/>
            <a:ext cx="626441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2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9pPr>
          </a:lstStyle>
          <a:p/>
        </p:txBody>
      </p:sp>
      <p:sp>
        <p:nvSpPr>
          <p:cNvPr id="141" name="Google Shape;141;p22"/>
          <p:cNvSpPr txBox="1"/>
          <p:nvPr>
            <p:ph idx="4" type="body"/>
          </p:nvPr>
        </p:nvSpPr>
        <p:spPr>
          <a:xfrm>
            <a:off x="5118447" y="4351687"/>
            <a:ext cx="6265588" cy="170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29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29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29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29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29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2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2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2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47" name="Google Shape;147;p23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3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3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3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3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3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3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3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3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3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3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3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3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3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3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3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3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3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3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3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" name="Google Shape;168;p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169" name="Google Shape;169;p23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3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" name="Google Shape;172;p23"/>
          <p:cNvSpPr txBox="1"/>
          <p:nvPr>
            <p:ph type="title"/>
          </p:nvPr>
        </p:nvSpPr>
        <p:spPr>
          <a:xfrm>
            <a:off x="888632" y="2349925"/>
            <a:ext cx="3501196" cy="24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3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3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2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78" name="Google Shape;178;p24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4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4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4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4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4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4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4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4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4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4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4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4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4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4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4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4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4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4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4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4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" name="Google Shape;199;p24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00" name="Google Shape;200;p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4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" name="Google Shape;203;p24"/>
          <p:cNvSpPr txBox="1"/>
          <p:nvPr>
            <p:ph type="title"/>
          </p:nvPr>
        </p:nvSpPr>
        <p:spPr>
          <a:xfrm>
            <a:off x="888631" y="2352026"/>
            <a:ext cx="3501197" cy="12232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3200"/>
              <a:buFont typeface="Calibri"/>
              <a:buNone/>
              <a:defRPr sz="3200"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4"/>
          <p:cNvSpPr txBox="1"/>
          <p:nvPr>
            <p:ph idx="1" type="body"/>
          </p:nvPr>
        </p:nvSpPr>
        <p:spPr>
          <a:xfrm>
            <a:off x="5109983" y="802809"/>
            <a:ext cx="6275035" cy="5249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29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29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29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29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29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205" name="Google Shape;205;p24"/>
          <p:cNvSpPr txBox="1"/>
          <p:nvPr>
            <p:ph idx="2" type="body"/>
          </p:nvPr>
        </p:nvSpPr>
        <p:spPr>
          <a:xfrm>
            <a:off x="888631" y="3580186"/>
            <a:ext cx="3501197" cy="1221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FFFEF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4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2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9pPr>
          </a:lstStyle>
          <a:p/>
        </p:txBody>
      </p:sp>
      <p:sp>
        <p:nvSpPr>
          <p:cNvPr id="206" name="Google Shape;206;p24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4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4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25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211" name="Google Shape;211;p25"/>
            <p:cNvSpPr/>
            <p:nvPr/>
          </p:nvSpPr>
          <p:spPr>
            <a:xfrm>
              <a:off x="-329674" y="1298404"/>
              <a:ext cx="9702800" cy="5573512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5"/>
            <p:cNvSpPr/>
            <p:nvPr/>
          </p:nvSpPr>
          <p:spPr>
            <a:xfrm>
              <a:off x="670451" y="2018236"/>
              <a:ext cx="7373938" cy="4848892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5"/>
            <p:cNvSpPr/>
            <p:nvPr/>
          </p:nvSpPr>
          <p:spPr>
            <a:xfrm>
              <a:off x="251351" y="1788400"/>
              <a:ext cx="8035925" cy="5083516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5"/>
            <p:cNvSpPr/>
            <p:nvPr/>
          </p:nvSpPr>
          <p:spPr>
            <a:xfrm>
              <a:off x="-1061" y="549842"/>
              <a:ext cx="10334625" cy="6322075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5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5"/>
            <p:cNvSpPr/>
            <p:nvPr/>
          </p:nvSpPr>
          <p:spPr>
            <a:xfrm>
              <a:off x="-1061" y="-51881"/>
              <a:ext cx="11091863" cy="6923796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5"/>
            <p:cNvSpPr/>
            <p:nvPr/>
          </p:nvSpPr>
          <p:spPr>
            <a:xfrm>
              <a:off x="5426601" y="5579"/>
              <a:ext cx="5788025" cy="6847184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5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5"/>
            <p:cNvSpPr/>
            <p:nvPr/>
          </p:nvSpPr>
          <p:spPr>
            <a:xfrm>
              <a:off x="5821889" y="5579"/>
              <a:ext cx="5588000" cy="6866337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5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5"/>
            <p:cNvSpPr/>
            <p:nvPr/>
          </p:nvSpPr>
          <p:spPr>
            <a:xfrm>
              <a:off x="6012389" y="5579"/>
              <a:ext cx="5497513" cy="6866337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5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5"/>
            <p:cNvSpPr/>
            <p:nvPr/>
          </p:nvSpPr>
          <p:spPr>
            <a:xfrm>
              <a:off x="6210826" y="790"/>
              <a:ext cx="5522913" cy="6871126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5"/>
            <p:cNvSpPr/>
            <p:nvPr/>
          </p:nvSpPr>
          <p:spPr>
            <a:xfrm>
              <a:off x="6463239" y="5579"/>
              <a:ext cx="5413375" cy="6866337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5"/>
            <p:cNvSpPr/>
            <p:nvPr/>
          </p:nvSpPr>
          <p:spPr>
            <a:xfrm>
              <a:off x="6877576" y="5579"/>
              <a:ext cx="5037138" cy="6861550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5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5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5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5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" name="Google Shape;230;p25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231" name="Google Shape;231;p25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5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4" name="Google Shape;234;p25"/>
          <p:cNvSpPr txBox="1"/>
          <p:nvPr>
            <p:ph type="title"/>
          </p:nvPr>
        </p:nvSpPr>
        <p:spPr>
          <a:xfrm>
            <a:off x="3344216" y="2074730"/>
            <a:ext cx="5490224" cy="16893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400"/>
              <a:buFont typeface="Calibri"/>
              <a:buNone/>
              <a:defRPr sz="4400"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25"/>
          <p:cNvSpPr txBox="1"/>
          <p:nvPr>
            <p:ph idx="1" type="body"/>
          </p:nvPr>
        </p:nvSpPr>
        <p:spPr>
          <a:xfrm>
            <a:off x="3344215" y="3846851"/>
            <a:ext cx="5490223" cy="1383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FFFEF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6" name="Google Shape;236;p25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5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25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21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241" name="Google Shape;241;p21"/>
            <p:cNvSpPr/>
            <p:nvPr/>
          </p:nvSpPr>
          <p:spPr>
            <a:xfrm>
              <a:off x="-329674" y="1298404"/>
              <a:ext cx="9702800" cy="5573512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1"/>
            <p:cNvSpPr/>
            <p:nvPr/>
          </p:nvSpPr>
          <p:spPr>
            <a:xfrm>
              <a:off x="670451" y="2018236"/>
              <a:ext cx="7373938" cy="4848892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1"/>
            <p:cNvSpPr/>
            <p:nvPr/>
          </p:nvSpPr>
          <p:spPr>
            <a:xfrm>
              <a:off x="251351" y="1788400"/>
              <a:ext cx="8035925" cy="5083516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1"/>
            <p:cNvSpPr/>
            <p:nvPr/>
          </p:nvSpPr>
          <p:spPr>
            <a:xfrm>
              <a:off x="-1061" y="549842"/>
              <a:ext cx="10334625" cy="6322075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1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1"/>
            <p:cNvSpPr/>
            <p:nvPr/>
          </p:nvSpPr>
          <p:spPr>
            <a:xfrm>
              <a:off x="-1061" y="-51881"/>
              <a:ext cx="11091863" cy="6923796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1"/>
            <p:cNvSpPr/>
            <p:nvPr/>
          </p:nvSpPr>
          <p:spPr>
            <a:xfrm>
              <a:off x="5426601" y="5579"/>
              <a:ext cx="5788025" cy="6847184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1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1"/>
            <p:cNvSpPr/>
            <p:nvPr/>
          </p:nvSpPr>
          <p:spPr>
            <a:xfrm>
              <a:off x="5821889" y="5579"/>
              <a:ext cx="5588000" cy="6866337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1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6012389" y="5579"/>
              <a:ext cx="5497513" cy="6866337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1"/>
            <p:cNvSpPr/>
            <p:nvPr/>
          </p:nvSpPr>
          <p:spPr>
            <a:xfrm>
              <a:off x="6210826" y="790"/>
              <a:ext cx="5522913" cy="6871126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1"/>
            <p:cNvSpPr/>
            <p:nvPr/>
          </p:nvSpPr>
          <p:spPr>
            <a:xfrm>
              <a:off x="6463239" y="5579"/>
              <a:ext cx="5413375" cy="6866337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1"/>
            <p:cNvSpPr/>
            <p:nvPr/>
          </p:nvSpPr>
          <p:spPr>
            <a:xfrm>
              <a:off x="6877576" y="5579"/>
              <a:ext cx="5037138" cy="6861550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1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1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1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1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" name="Google Shape;260;p21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261" name="Google Shape;261;p21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1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4" name="Google Shape;264;p21"/>
          <p:cNvSpPr/>
          <p:nvPr>
            <p:ph idx="2" type="pic"/>
          </p:nvPr>
        </p:nvSpPr>
        <p:spPr>
          <a:xfrm>
            <a:off x="7543510" y="0"/>
            <a:ext cx="4648490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3080"/>
              <a:buFont typeface="Noto Sans Symbols"/>
              <a:buNone/>
              <a:defRPr b="0" i="0" sz="2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64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265" name="Google Shape;265;p21"/>
          <p:cNvSpPr txBox="1"/>
          <p:nvPr>
            <p:ph type="title"/>
          </p:nvPr>
        </p:nvSpPr>
        <p:spPr>
          <a:xfrm>
            <a:off x="885443" y="2360255"/>
            <a:ext cx="5776646" cy="11780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3600"/>
              <a:buFont typeface="Calibri"/>
              <a:buNone/>
              <a:defRPr sz="3600"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21"/>
          <p:cNvSpPr txBox="1"/>
          <p:nvPr>
            <p:ph idx="1" type="body"/>
          </p:nvPr>
        </p:nvSpPr>
        <p:spPr>
          <a:xfrm>
            <a:off x="885443" y="3545012"/>
            <a:ext cx="5776646" cy="1274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FFFEF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4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2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9pPr>
          </a:lstStyle>
          <a:p/>
        </p:txBody>
      </p:sp>
      <p:sp>
        <p:nvSpPr>
          <p:cNvPr id="267" name="Google Shape;267;p21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21"/>
          <p:cNvSpPr txBox="1"/>
          <p:nvPr>
            <p:ph idx="11" type="ftr"/>
          </p:nvPr>
        </p:nvSpPr>
        <p:spPr>
          <a:xfrm>
            <a:off x="804672" y="6227064"/>
            <a:ext cx="5942203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21"/>
          <p:cNvSpPr txBox="1"/>
          <p:nvPr>
            <p:ph idx="12" type="sldNum"/>
          </p:nvPr>
        </p:nvSpPr>
        <p:spPr>
          <a:xfrm>
            <a:off x="5828377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26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26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27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276" name="Google Shape;276;p27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7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7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7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7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7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7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7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7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7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7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7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7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7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7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7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7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7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7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7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7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7" name="Google Shape;297;p27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98" name="Google Shape;298;p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7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7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1" name="Google Shape;301;p27"/>
          <p:cNvSpPr txBox="1"/>
          <p:nvPr>
            <p:ph type="title"/>
          </p:nvPr>
        </p:nvSpPr>
        <p:spPr>
          <a:xfrm>
            <a:off x="888632" y="2349925"/>
            <a:ext cx="3501196" cy="2456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27"/>
          <p:cNvSpPr txBox="1"/>
          <p:nvPr>
            <p:ph idx="1" type="body"/>
          </p:nvPr>
        </p:nvSpPr>
        <p:spPr>
          <a:xfrm rot="5400000">
            <a:off x="5618955" y="285746"/>
            <a:ext cx="5257090" cy="62750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29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29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29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29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29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303" name="Google Shape;303;p27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27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27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28"/>
          <p:cNvGrpSpPr/>
          <p:nvPr/>
        </p:nvGrpSpPr>
        <p:grpSpPr>
          <a:xfrm flipH="1">
            <a:off x="-1" y="0"/>
            <a:ext cx="12584114" cy="6853238"/>
            <a:chOff x="-417513" y="0"/>
            <a:chExt cx="12584114" cy="6853238"/>
          </a:xfrm>
        </p:grpSpPr>
        <p:sp>
          <p:nvSpPr>
            <p:cNvPr id="308" name="Google Shape;308;p28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8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8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8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8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8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8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8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8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8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8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8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8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8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8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8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8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8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8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8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8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9" name="Google Shape;329;p28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330" name="Google Shape;330;p28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8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8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3" name="Google Shape;333;p28"/>
          <p:cNvSpPr txBox="1"/>
          <p:nvPr>
            <p:ph type="title"/>
          </p:nvPr>
        </p:nvSpPr>
        <p:spPr>
          <a:xfrm rot="5400000">
            <a:off x="8329814" y="1827548"/>
            <a:ext cx="2456442" cy="3501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28"/>
          <p:cNvSpPr txBox="1"/>
          <p:nvPr>
            <p:ph idx="1" type="body"/>
          </p:nvPr>
        </p:nvSpPr>
        <p:spPr>
          <a:xfrm rot="5400000">
            <a:off x="1308406" y="292784"/>
            <a:ext cx="5257303" cy="6268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29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29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29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29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29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335" name="Google Shape;335;p28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28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28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>
            <a:lvl1pPr lv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4036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26389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12419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1242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1242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1242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1242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1242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2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"/>
          <p:cNvSpPr txBox="1"/>
          <p:nvPr>
            <p:ph type="ctrTitle"/>
          </p:nvPr>
        </p:nvSpPr>
        <p:spPr>
          <a:xfrm>
            <a:off x="1981913" y="1729125"/>
            <a:ext cx="8222100" cy="2421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400"/>
              <a:buFont typeface="Rockwell"/>
              <a:buNone/>
            </a:pPr>
            <a:r>
              <a:rPr b="1" lang="en-US">
                <a:solidFill>
                  <a:schemeClr val="accent6"/>
                </a:solidFill>
                <a:latin typeface="Rockwell"/>
                <a:ea typeface="Rockwell"/>
                <a:cs typeface="Rockwell"/>
                <a:sym typeface="Rockwell"/>
              </a:rPr>
              <a:t>CoECS</a:t>
            </a:r>
            <a:r>
              <a:rPr b="1" lang="en-US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: Preparing for Advisement And Registration</a:t>
            </a:r>
            <a:endParaRPr b="1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43" name="Google Shape;343;p1"/>
          <p:cNvSpPr txBox="1"/>
          <p:nvPr>
            <p:ph idx="1" type="subTitle"/>
          </p:nvPr>
        </p:nvSpPr>
        <p:spPr>
          <a:xfrm>
            <a:off x="1774424" y="4330904"/>
            <a:ext cx="863707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The Advising &amp; Enrichment Center – NYC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26 W. 61st St. 2nd Floor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"/>
          <p:cNvSpPr txBox="1"/>
          <p:nvPr>
            <p:ph type="title"/>
          </p:nvPr>
        </p:nvSpPr>
        <p:spPr>
          <a:xfrm>
            <a:off x="889000" y="2339669"/>
            <a:ext cx="3500828" cy="2470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ckwell"/>
              <a:buNone/>
            </a:pPr>
            <a:r>
              <a:rPr b="1" lang="en-US" sz="4800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Preparing for </a:t>
            </a:r>
            <a:r>
              <a:rPr b="1" lang="en-US" sz="4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Fall</a:t>
            </a:r>
            <a:r>
              <a:rPr b="1" lang="en-US" sz="4800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2020</a:t>
            </a:r>
            <a:endParaRPr b="1" sz="4800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49" name="Google Shape;349;p3"/>
          <p:cNvSpPr txBox="1"/>
          <p:nvPr>
            <p:ph idx="1" type="body"/>
          </p:nvPr>
        </p:nvSpPr>
        <p:spPr>
          <a:xfrm>
            <a:off x="4614003" y="1673475"/>
            <a:ext cx="7098900" cy="3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▪"/>
            </a:pPr>
            <a:r>
              <a:rPr lang="en-US" sz="2000"/>
              <a:t>Review Spring 2020 Classes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</a:pPr>
            <a:r>
              <a:rPr lang="en-US" sz="2000"/>
              <a:t>How are classes going? What grades have you received?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</a:pPr>
            <a:r>
              <a:rPr lang="en-US" sz="2000"/>
              <a:t>Do you need the support of any academic resources to be successful for the rest of the semester?</a:t>
            </a:r>
            <a:endParaRPr sz="2000"/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</a:pPr>
            <a:r>
              <a:rPr lang="en-US" sz="2000"/>
              <a:t>**Have you submitted all AP scores or college credits from high school? Has NYIT confirmed they have been received? </a:t>
            </a:r>
            <a:endParaRPr sz="2000"/>
          </a:p>
        </p:txBody>
      </p:sp>
      <p:sp>
        <p:nvSpPr>
          <p:cNvPr id="350" name="Google Shape;350;p3"/>
          <p:cNvSpPr/>
          <p:nvPr/>
        </p:nvSpPr>
        <p:spPr>
          <a:xfrm>
            <a:off x="8115366" y="4705068"/>
            <a:ext cx="3782400" cy="1948200"/>
          </a:xfrm>
          <a:prstGeom prst="rect">
            <a:avLst/>
          </a:prstGeom>
          <a:solidFill>
            <a:schemeClr val="accent6"/>
          </a:solidFill>
          <a:ln cap="flat" cmpd="sng" w="15875">
            <a:solidFill>
              <a:srgbClr val="BB62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51" name="Google Shape;351;p3"/>
          <p:cNvSpPr txBox="1"/>
          <p:nvPr>
            <p:ph idx="2" type="body"/>
          </p:nvPr>
        </p:nvSpPr>
        <p:spPr>
          <a:xfrm>
            <a:off x="7445216" y="4868020"/>
            <a:ext cx="5239076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0"/>
              <a:buFont typeface="Arial"/>
              <a:buNone/>
            </a:pPr>
            <a:r>
              <a:rPr b="1" lang="en-US" sz="1100" u="sng"/>
              <a:t>Academic Resources: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10"/>
              <a:buFont typeface="Arial"/>
              <a:buNone/>
            </a:pPr>
            <a:r>
              <a:rPr lang="en-US" sz="1100"/>
              <a:t>Learning Center, 26 W. 61st St., Rooms 205 &amp; 206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10"/>
              <a:buFont typeface="Arial"/>
              <a:buNone/>
            </a:pPr>
            <a:r>
              <a:rPr lang="en-US" sz="1100"/>
              <a:t>Math Resource Center, 16 W. 61st St., room 717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10"/>
              <a:buFont typeface="Arial"/>
              <a:buNone/>
            </a:pPr>
            <a:r>
              <a:rPr lang="en-US" sz="1100"/>
              <a:t>Science Learning Center, 1855 Broadway, Room 306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10"/>
              <a:buFont typeface="Arial"/>
              <a:buNone/>
            </a:pPr>
            <a:r>
              <a:rPr lang="en-US" sz="1100"/>
              <a:t>Writing Center, 16 W. 61st St., Room 609</a:t>
            </a:r>
            <a:endParaRPr b="1" sz="1100" u="sng"/>
          </a:p>
          <a:p>
            <a:pPr indent="-10287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  <a:p>
            <a:pPr indent="-10287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"/>
          <p:cNvSpPr txBox="1"/>
          <p:nvPr>
            <p:ph type="title"/>
          </p:nvPr>
        </p:nvSpPr>
        <p:spPr>
          <a:xfrm>
            <a:off x="708624" y="2349925"/>
            <a:ext cx="3986100" cy="24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ckwell"/>
              <a:buNone/>
            </a:pPr>
            <a:r>
              <a:rPr b="1" lang="en-US" sz="3600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CoECS Academic Requirements</a:t>
            </a:r>
            <a:endParaRPr b="1" sz="3600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57" name="Google Shape;357;p4"/>
          <p:cNvSpPr txBox="1"/>
          <p:nvPr>
            <p:ph idx="1" type="body"/>
          </p:nvPr>
        </p:nvSpPr>
        <p:spPr>
          <a:xfrm>
            <a:off x="4694725" y="1522350"/>
            <a:ext cx="5956200" cy="38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▪"/>
            </a:pPr>
            <a:r>
              <a:rPr lang="en-US"/>
              <a:t>Students enrolled in the Mechanical Engineering, Electrical and Computer Engineering, or Computer Science programs must earn a grade of C- or higher in all required </a:t>
            </a:r>
            <a:r>
              <a:rPr lang="en-US" u="sng"/>
              <a:t>Math, Physics, Computer Science, and Engineering Courses</a:t>
            </a:r>
            <a:r>
              <a:rPr lang="en-US"/>
              <a:t>.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0"/>
              <a:buChar char="▪"/>
            </a:pPr>
            <a:r>
              <a:rPr lang="en-US" sz="1800"/>
              <a:t>Grades of D+ or below cannot be counted towards a student’s degree.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80"/>
              <a:buChar char="▪"/>
            </a:pPr>
            <a:r>
              <a:rPr lang="en-US"/>
              <a:t>Undeclared students who intend to pursue Mechanical Engineering, Electrical and Computer Engineering, or Computer Science must meet the conditions above in order to qualify for entrance into the program.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"/>
          <p:cNvSpPr txBox="1"/>
          <p:nvPr>
            <p:ph type="title"/>
          </p:nvPr>
        </p:nvSpPr>
        <p:spPr>
          <a:xfrm>
            <a:off x="918256" y="1728250"/>
            <a:ext cx="3498900" cy="245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ckwell"/>
              <a:buNone/>
            </a:pPr>
            <a:r>
              <a:rPr b="1" lang="en-US" sz="4800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Semester Map</a:t>
            </a:r>
            <a:endParaRPr b="1" sz="4800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63" name="Google Shape;363;p5"/>
          <p:cNvSpPr txBox="1"/>
          <p:nvPr>
            <p:ph idx="1" type="body"/>
          </p:nvPr>
        </p:nvSpPr>
        <p:spPr>
          <a:xfrm>
            <a:off x="5118450" y="1432234"/>
            <a:ext cx="62820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20"/>
              <a:buNone/>
            </a:pPr>
            <a:r>
              <a:rPr b="1" lang="en-US" sz="1600">
                <a:solidFill>
                  <a:schemeClr val="accent6"/>
                </a:solidFill>
              </a:rPr>
              <a:t>What is a Semester Map?</a:t>
            </a:r>
            <a:endParaRPr sz="1600"/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320"/>
              <a:buNone/>
            </a:pPr>
            <a:r>
              <a:rPr lang="en-US" sz="1600">
                <a:solidFill>
                  <a:srgbClr val="000000"/>
                </a:solidFill>
              </a:rPr>
              <a:t>A semester map is an example of the semester-by-semester sequence of courses a student has to complete in order to satisfy all major and core requirements.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364" name="Google Shape;364;p5"/>
          <p:cNvSpPr txBox="1"/>
          <p:nvPr/>
        </p:nvSpPr>
        <p:spPr>
          <a:xfrm>
            <a:off x="5765550" y="3017200"/>
            <a:ext cx="49878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accent6"/>
                </a:solidFill>
                <a:latin typeface="Rockwell"/>
                <a:ea typeface="Rockwell"/>
                <a:cs typeface="Rockwell"/>
                <a:sym typeface="Rockwell"/>
              </a:rPr>
              <a:t>Where can you find your Semester Map?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365" name="Google Shape;365;p5"/>
          <p:cNvPicPr preferRelativeResize="0"/>
          <p:nvPr/>
        </p:nvPicPr>
        <p:blipFill rotWithShape="1">
          <a:blip r:embed="rId3">
            <a:alphaModFix/>
          </a:blip>
          <a:srcRect b="0" l="12226" r="0" t="0"/>
          <a:stretch/>
        </p:blipFill>
        <p:spPr>
          <a:xfrm>
            <a:off x="4632900" y="3394600"/>
            <a:ext cx="7253102" cy="18845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5"/>
          <p:cNvSpPr/>
          <p:nvPr/>
        </p:nvSpPr>
        <p:spPr>
          <a:xfrm>
            <a:off x="10390600" y="3877975"/>
            <a:ext cx="1495500" cy="7005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7" name="Google Shape;367;p5"/>
          <p:cNvCxnSpPr/>
          <p:nvPr/>
        </p:nvCxnSpPr>
        <p:spPr>
          <a:xfrm>
            <a:off x="10331400" y="3266175"/>
            <a:ext cx="582300" cy="601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"/>
          <p:cNvSpPr txBox="1"/>
          <p:nvPr>
            <p:ph type="title"/>
          </p:nvPr>
        </p:nvSpPr>
        <p:spPr>
          <a:xfrm>
            <a:off x="1419248" y="496367"/>
            <a:ext cx="9295603" cy="1056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ckwell"/>
              <a:buNone/>
            </a:pPr>
            <a:r>
              <a:rPr b="1" lang="en-US" sz="4800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Semester Map – Cont.’d</a:t>
            </a:r>
            <a:endParaRPr b="1" sz="4800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373" name="Google Shape;373;p6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415" y="1552686"/>
            <a:ext cx="6317100" cy="48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6"/>
          <p:cNvSpPr/>
          <p:nvPr/>
        </p:nvSpPr>
        <p:spPr>
          <a:xfrm>
            <a:off x="9628732" y="2876284"/>
            <a:ext cx="557100" cy="3322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5875">
            <a:solidFill>
              <a:srgbClr val="BB62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6"/>
          <p:cNvSpPr txBox="1"/>
          <p:nvPr/>
        </p:nvSpPr>
        <p:spPr>
          <a:xfrm rot="5400000">
            <a:off x="8315777" y="4301925"/>
            <a:ext cx="31830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Progression of Courses</a:t>
            </a:r>
            <a:endParaRPr b="1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76" name="Google Shape;376;p6"/>
          <p:cNvSpPr/>
          <p:nvPr/>
        </p:nvSpPr>
        <p:spPr>
          <a:xfrm>
            <a:off x="6816972" y="2101856"/>
            <a:ext cx="232800" cy="224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377" name="Google Shape;377;p6"/>
          <p:cNvCxnSpPr>
            <a:endCxn id="376" idx="6"/>
          </p:cNvCxnSpPr>
          <p:nvPr/>
        </p:nvCxnSpPr>
        <p:spPr>
          <a:xfrm flipH="1">
            <a:off x="7049772" y="2188256"/>
            <a:ext cx="3192900" cy="258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8" name="Google Shape;378;p6"/>
          <p:cNvSpPr txBox="1"/>
          <p:nvPr/>
        </p:nvSpPr>
        <p:spPr>
          <a:xfrm>
            <a:off x="10235346" y="1989614"/>
            <a:ext cx="14536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Course Credit</a:t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79" name="Google Shape;379;p6"/>
          <p:cNvSpPr/>
          <p:nvPr/>
        </p:nvSpPr>
        <p:spPr>
          <a:xfrm>
            <a:off x="6198638" y="2636587"/>
            <a:ext cx="886800" cy="2397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380" name="Google Shape;380;p6"/>
          <p:cNvCxnSpPr>
            <a:endCxn id="379" idx="6"/>
          </p:cNvCxnSpPr>
          <p:nvPr/>
        </p:nvCxnSpPr>
        <p:spPr>
          <a:xfrm rot="10800000">
            <a:off x="7085438" y="2756437"/>
            <a:ext cx="3188700" cy="33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1" name="Google Shape;381;p6"/>
          <p:cNvSpPr txBox="1"/>
          <p:nvPr/>
        </p:nvSpPr>
        <p:spPr>
          <a:xfrm>
            <a:off x="10242529" y="2561108"/>
            <a:ext cx="182938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Pre-requisite(s) or Co-requisite(s)</a:t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382" name="Google Shape;382;p6"/>
          <p:cNvCxnSpPr/>
          <p:nvPr/>
        </p:nvCxnSpPr>
        <p:spPr>
          <a:xfrm flipH="1">
            <a:off x="3767268" y="2162167"/>
            <a:ext cx="590100" cy="332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83" name="Google Shape;383;p6"/>
          <p:cNvCxnSpPr/>
          <p:nvPr/>
        </p:nvCxnSpPr>
        <p:spPr>
          <a:xfrm flipH="1">
            <a:off x="5752974" y="2162168"/>
            <a:ext cx="590100" cy="332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84" name="Google Shape;384;p6"/>
          <p:cNvCxnSpPr/>
          <p:nvPr/>
        </p:nvCxnSpPr>
        <p:spPr>
          <a:xfrm flipH="1">
            <a:off x="6360360" y="2196462"/>
            <a:ext cx="590100" cy="332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85" name="Google Shape;385;p6"/>
          <p:cNvCxnSpPr/>
          <p:nvPr/>
        </p:nvCxnSpPr>
        <p:spPr>
          <a:xfrm flipH="1">
            <a:off x="7349947" y="2188261"/>
            <a:ext cx="590202" cy="332511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86" name="Google Shape;386;p6"/>
          <p:cNvCxnSpPr/>
          <p:nvPr/>
        </p:nvCxnSpPr>
        <p:spPr>
          <a:xfrm flipH="1">
            <a:off x="8028756" y="2166892"/>
            <a:ext cx="590202" cy="332511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87" name="Google Shape;387;p6"/>
          <p:cNvCxnSpPr/>
          <p:nvPr/>
        </p:nvCxnSpPr>
        <p:spPr>
          <a:xfrm flipH="1">
            <a:off x="3760795" y="2520764"/>
            <a:ext cx="603000" cy="31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" name="Google Shape;388;p6"/>
          <p:cNvCxnSpPr/>
          <p:nvPr/>
        </p:nvCxnSpPr>
        <p:spPr>
          <a:xfrm>
            <a:off x="2759247" y="2494678"/>
            <a:ext cx="911400" cy="216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9" name="Google Shape;389;p6"/>
          <p:cNvCxnSpPr/>
          <p:nvPr/>
        </p:nvCxnSpPr>
        <p:spPr>
          <a:xfrm flipH="1" rot="10800000">
            <a:off x="2568550" y="2871502"/>
            <a:ext cx="1200900" cy="395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0" name="Google Shape;390;p6"/>
          <p:cNvSpPr txBox="1"/>
          <p:nvPr/>
        </p:nvSpPr>
        <p:spPr>
          <a:xfrm>
            <a:off x="839449" y="2282075"/>
            <a:ext cx="2202013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Dotted Line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= Courses in Progress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Solid Line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= Courses Completed</a:t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91" name="Google Shape;391;p6"/>
          <p:cNvSpPr txBox="1"/>
          <p:nvPr/>
        </p:nvSpPr>
        <p:spPr>
          <a:xfrm>
            <a:off x="757714" y="1759484"/>
            <a:ext cx="22344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Track Your Courses</a:t>
            </a:r>
            <a:endParaRPr b="0" i="0" sz="1800" u="sng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70511bb7fc_0_0"/>
          <p:cNvSpPr txBox="1"/>
          <p:nvPr>
            <p:ph type="title"/>
          </p:nvPr>
        </p:nvSpPr>
        <p:spPr>
          <a:xfrm>
            <a:off x="889001" y="2363915"/>
            <a:ext cx="3500700" cy="24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70511bb7fc_0_0"/>
          <p:cNvSpPr txBox="1"/>
          <p:nvPr>
            <p:ph idx="1" type="body"/>
          </p:nvPr>
        </p:nvSpPr>
        <p:spPr>
          <a:xfrm>
            <a:off x="282450" y="307875"/>
            <a:ext cx="11627100" cy="90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0000"/>
                </a:solidFill>
              </a:rPr>
              <a:t>Math and English </a:t>
            </a:r>
            <a:r>
              <a:rPr b="1" lang="en-US" sz="4000">
                <a:solidFill>
                  <a:srgbClr val="000000"/>
                </a:solidFill>
              </a:rPr>
              <a:t>Progression</a:t>
            </a:r>
            <a:r>
              <a:rPr b="1" lang="en-US" sz="4000">
                <a:solidFill>
                  <a:srgbClr val="000000"/>
                </a:solidFill>
              </a:rPr>
              <a:t> Chart</a:t>
            </a:r>
            <a:endParaRPr b="1" sz="4000">
              <a:solidFill>
                <a:srgbClr val="000000"/>
              </a:solidFill>
            </a:endParaRPr>
          </a:p>
        </p:txBody>
      </p:sp>
      <p:pic>
        <p:nvPicPr>
          <p:cNvPr id="399" name="Google Shape;399;g70511bb7f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49624" y="1212975"/>
            <a:ext cx="6558853" cy="503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g70511bb7fc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9225" y="1212975"/>
            <a:ext cx="6310125" cy="498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7"/>
          <p:cNvPicPr preferRelativeResize="0"/>
          <p:nvPr/>
        </p:nvPicPr>
        <p:blipFill rotWithShape="1">
          <a:blip r:embed="rId3">
            <a:alphaModFix/>
          </a:blip>
          <a:srcRect b="13456" l="0" r="0" t="0"/>
          <a:stretch/>
        </p:blipFill>
        <p:spPr>
          <a:xfrm>
            <a:off x="528900" y="1389113"/>
            <a:ext cx="11229350" cy="4937576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7"/>
          <p:cNvSpPr txBox="1"/>
          <p:nvPr>
            <p:ph type="title"/>
          </p:nvPr>
        </p:nvSpPr>
        <p:spPr>
          <a:xfrm>
            <a:off x="1497920" y="519525"/>
            <a:ext cx="92913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20"/>
              <a:buFont typeface="Rockwell"/>
              <a:buNone/>
            </a:pPr>
            <a:r>
              <a:rPr b="1" lang="en-US" sz="4320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my.NYIT</a:t>
            </a:r>
            <a:endParaRPr b="1" sz="4320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07" name="Google Shape;407;p7"/>
          <p:cNvSpPr/>
          <p:nvPr/>
        </p:nvSpPr>
        <p:spPr>
          <a:xfrm>
            <a:off x="6075337" y="3963721"/>
            <a:ext cx="1227600" cy="12108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08" name="Google Shape;408;p7"/>
          <p:cNvSpPr/>
          <p:nvPr/>
        </p:nvSpPr>
        <p:spPr>
          <a:xfrm rot="-3379029">
            <a:off x="5376778" y="3201433"/>
            <a:ext cx="660482" cy="118550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09" name="Google Shape;409;p7"/>
          <p:cNvSpPr/>
          <p:nvPr/>
        </p:nvSpPr>
        <p:spPr>
          <a:xfrm rot="-2298120">
            <a:off x="2234005" y="3135320"/>
            <a:ext cx="660206" cy="1185429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10" name="Google Shape;410;p7"/>
          <p:cNvSpPr/>
          <p:nvPr/>
        </p:nvSpPr>
        <p:spPr>
          <a:xfrm>
            <a:off x="2790511" y="4013771"/>
            <a:ext cx="1227600" cy="12108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11" name="Google Shape;411;p7"/>
          <p:cNvSpPr/>
          <p:nvPr/>
        </p:nvSpPr>
        <p:spPr>
          <a:xfrm>
            <a:off x="4970933" y="5115971"/>
            <a:ext cx="1227600" cy="12108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12" name="Google Shape;412;p7"/>
          <p:cNvSpPr/>
          <p:nvPr/>
        </p:nvSpPr>
        <p:spPr>
          <a:xfrm rot="5400000">
            <a:off x="6461062" y="5128673"/>
            <a:ext cx="660300" cy="1185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1939" y="1548051"/>
            <a:ext cx="5858000" cy="376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19133" y="4119763"/>
            <a:ext cx="1876425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8"/>
          <p:cNvSpPr txBox="1"/>
          <p:nvPr>
            <p:ph type="title"/>
          </p:nvPr>
        </p:nvSpPr>
        <p:spPr>
          <a:xfrm>
            <a:off x="432760" y="3167597"/>
            <a:ext cx="4396935" cy="7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ckwell"/>
              <a:buNone/>
            </a:pPr>
            <a:r>
              <a:rPr b="1" lang="en-US" sz="3600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NYIT Connect: Student Center</a:t>
            </a:r>
            <a:endParaRPr b="1" sz="3600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20" name="Google Shape;420;p8"/>
          <p:cNvSpPr/>
          <p:nvPr/>
        </p:nvSpPr>
        <p:spPr>
          <a:xfrm>
            <a:off x="11252187" y="2109680"/>
            <a:ext cx="826200" cy="971400"/>
          </a:xfrm>
          <a:prstGeom prst="rect">
            <a:avLst/>
          </a:prstGeom>
          <a:solidFill>
            <a:schemeClr val="accent6"/>
          </a:solidFill>
          <a:ln cap="flat" cmpd="sng" w="15875">
            <a:solidFill>
              <a:srgbClr val="BB62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Important items to check when getting ready for Registration</a:t>
            </a:r>
            <a:endParaRPr b="1" i="0" sz="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21" name="Google Shape;421;p8"/>
          <p:cNvSpPr/>
          <p:nvPr/>
        </p:nvSpPr>
        <p:spPr>
          <a:xfrm>
            <a:off x="10799034" y="1855119"/>
            <a:ext cx="374100" cy="15129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22" name="Google Shape;422;p8"/>
          <p:cNvSpPr/>
          <p:nvPr/>
        </p:nvSpPr>
        <p:spPr>
          <a:xfrm>
            <a:off x="5553700" y="4114800"/>
            <a:ext cx="1876500" cy="2180700"/>
          </a:xfrm>
          <a:prstGeom prst="rect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8"/>
          <p:cNvSpPr/>
          <p:nvPr/>
        </p:nvSpPr>
        <p:spPr>
          <a:xfrm rot="1733983">
            <a:off x="5378793" y="4665029"/>
            <a:ext cx="118565" cy="1330324"/>
          </a:xfrm>
          <a:prstGeom prst="upArrow">
            <a:avLst>
              <a:gd fmla="val 33375" name="adj1"/>
              <a:gd fmla="val 49957" name="adj2"/>
            </a:avLst>
          </a:prstGeom>
          <a:solidFill>
            <a:srgbClr val="FF0000"/>
          </a:solidFill>
          <a:ln cap="flat" cmpd="sng" w="1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8"/>
          <p:cNvSpPr/>
          <p:nvPr/>
        </p:nvSpPr>
        <p:spPr>
          <a:xfrm>
            <a:off x="4358368" y="5862541"/>
            <a:ext cx="1039200" cy="374100"/>
          </a:xfrm>
          <a:prstGeom prst="rect">
            <a:avLst/>
          </a:prstGeom>
          <a:solidFill>
            <a:schemeClr val="accent6"/>
          </a:solidFill>
          <a:ln cap="flat" cmpd="sng" w="15875">
            <a:solidFill>
              <a:srgbClr val="BB62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To view your STAR</a:t>
            </a:r>
            <a:endParaRPr b="1" i="0" sz="12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425" name="Google Shape;425;p8"/>
          <p:cNvCxnSpPr/>
          <p:nvPr/>
        </p:nvCxnSpPr>
        <p:spPr>
          <a:xfrm>
            <a:off x="5703500" y="3019500"/>
            <a:ext cx="453900" cy="1075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9"/>
          <p:cNvSpPr txBox="1"/>
          <p:nvPr>
            <p:ph type="title"/>
          </p:nvPr>
        </p:nvSpPr>
        <p:spPr>
          <a:xfrm>
            <a:off x="822129" y="2349925"/>
            <a:ext cx="3658431" cy="24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Rockwell"/>
              <a:buNone/>
            </a:pPr>
            <a:r>
              <a:rPr b="1" lang="en-US" sz="3600" cap="none">
                <a:solidFill>
                  <a:schemeClr val="accent6"/>
                </a:solidFill>
                <a:latin typeface="Rockwell"/>
                <a:ea typeface="Rockwell"/>
                <a:cs typeface="Rockwell"/>
                <a:sym typeface="Rockwell"/>
              </a:rPr>
              <a:t>ST</a:t>
            </a:r>
            <a:r>
              <a:rPr b="1" lang="en-US" sz="3600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udent </a:t>
            </a:r>
            <a:r>
              <a:rPr b="1" lang="en-US" sz="3600" cap="none">
                <a:solidFill>
                  <a:schemeClr val="accent6"/>
                </a:solidFill>
                <a:latin typeface="Rockwell"/>
                <a:ea typeface="Rockwell"/>
                <a:cs typeface="Rockwell"/>
                <a:sym typeface="Rockwell"/>
              </a:rPr>
              <a:t>A</a:t>
            </a:r>
            <a:r>
              <a:rPr b="1" lang="en-US" sz="3600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dviseme</a:t>
            </a:r>
            <a:r>
              <a:rPr b="1" lang="en-US" sz="36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</a:t>
            </a:r>
            <a:r>
              <a:rPr b="1" lang="en-US" sz="3600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 </a:t>
            </a:r>
            <a:r>
              <a:rPr b="1" lang="en-US" sz="3600" cap="none">
                <a:solidFill>
                  <a:schemeClr val="accent6"/>
                </a:solidFill>
                <a:latin typeface="Rockwell"/>
                <a:ea typeface="Rockwell"/>
                <a:cs typeface="Rockwell"/>
                <a:sym typeface="Rockwell"/>
              </a:rPr>
              <a:t>R</a:t>
            </a:r>
            <a:r>
              <a:rPr b="1" lang="en-US" sz="3600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eport</a:t>
            </a:r>
            <a:endParaRPr b="1" sz="3600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431" name="Google Shape;43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4810" y="1283750"/>
            <a:ext cx="5457825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9"/>
          <p:cNvSpPr/>
          <p:nvPr/>
        </p:nvSpPr>
        <p:spPr>
          <a:xfrm rot="1733983">
            <a:off x="5365843" y="3446454"/>
            <a:ext cx="118565" cy="1330324"/>
          </a:xfrm>
          <a:prstGeom prst="upArrow">
            <a:avLst>
              <a:gd fmla="val 33375" name="adj1"/>
              <a:gd fmla="val 49957" name="adj2"/>
            </a:avLst>
          </a:prstGeom>
          <a:solidFill>
            <a:srgbClr val="FF0000"/>
          </a:solidFill>
          <a:ln cap="flat" cmpd="sng" w="1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9"/>
          <p:cNvSpPr/>
          <p:nvPr/>
        </p:nvSpPr>
        <p:spPr>
          <a:xfrm rot="755509">
            <a:off x="7722731" y="3522707"/>
            <a:ext cx="118346" cy="1330283"/>
          </a:xfrm>
          <a:prstGeom prst="upArrow">
            <a:avLst>
              <a:gd fmla="val 33375" name="adj1"/>
              <a:gd fmla="val 49957" name="adj2"/>
            </a:avLst>
          </a:prstGeom>
          <a:solidFill>
            <a:srgbClr val="FF0000"/>
          </a:solidFill>
          <a:ln cap="flat" cmpd="sng" w="1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9"/>
          <p:cNvSpPr/>
          <p:nvPr/>
        </p:nvSpPr>
        <p:spPr>
          <a:xfrm rot="-7612194">
            <a:off x="10040600" y="1106115"/>
            <a:ext cx="118500" cy="1420921"/>
          </a:xfrm>
          <a:prstGeom prst="upArrow">
            <a:avLst>
              <a:gd fmla="val 33375" name="adj1"/>
              <a:gd fmla="val 49957" name="adj2"/>
            </a:avLst>
          </a:prstGeom>
          <a:solidFill>
            <a:srgbClr val="FF0000"/>
          </a:solidFill>
          <a:ln cap="flat" cmpd="sng" w="1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9"/>
          <p:cNvSpPr/>
          <p:nvPr/>
        </p:nvSpPr>
        <p:spPr>
          <a:xfrm rot="-1924931">
            <a:off x="9158487" y="3446407"/>
            <a:ext cx="118614" cy="1330414"/>
          </a:xfrm>
          <a:prstGeom prst="upArrow">
            <a:avLst>
              <a:gd fmla="val 33375" name="adj1"/>
              <a:gd fmla="val 49957" name="adj2"/>
            </a:avLst>
          </a:prstGeom>
          <a:solidFill>
            <a:srgbClr val="FF0000"/>
          </a:solidFill>
          <a:ln cap="flat" cmpd="sng" w="1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9"/>
          <p:cNvSpPr/>
          <p:nvPr/>
        </p:nvSpPr>
        <p:spPr>
          <a:xfrm>
            <a:off x="10653050" y="869075"/>
            <a:ext cx="1039200" cy="1134000"/>
          </a:xfrm>
          <a:prstGeom prst="rect">
            <a:avLst/>
          </a:prstGeom>
          <a:solidFill>
            <a:schemeClr val="accent6"/>
          </a:solidFill>
          <a:ln cap="flat" cmpd="sng" w="15875">
            <a:solidFill>
              <a:srgbClr val="BB62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Tells you which Semester Map to follow.</a:t>
            </a:r>
            <a:endParaRPr b="1" i="0" sz="12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37" name="Google Shape;437;p9"/>
          <p:cNvSpPr/>
          <p:nvPr/>
        </p:nvSpPr>
        <p:spPr>
          <a:xfrm>
            <a:off x="4966625" y="3963725"/>
            <a:ext cx="1039200" cy="1134000"/>
          </a:xfrm>
          <a:prstGeom prst="rect">
            <a:avLst/>
          </a:prstGeom>
          <a:solidFill>
            <a:schemeClr val="accent6"/>
          </a:solidFill>
          <a:ln cap="flat" cmpd="sng" w="15875">
            <a:solidFill>
              <a:srgbClr val="BB62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Note these symbols when reviewing your STAR</a:t>
            </a:r>
            <a:endParaRPr b="1" i="0" sz="12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38" name="Google Shape;438;p9"/>
          <p:cNvSpPr/>
          <p:nvPr/>
        </p:nvSpPr>
        <p:spPr>
          <a:xfrm>
            <a:off x="9233825" y="4364750"/>
            <a:ext cx="1039200" cy="1134000"/>
          </a:xfrm>
          <a:prstGeom prst="rect">
            <a:avLst/>
          </a:prstGeom>
          <a:solidFill>
            <a:schemeClr val="accent6"/>
          </a:solidFill>
          <a:ln cap="flat" cmpd="sng" w="15875">
            <a:solidFill>
              <a:srgbClr val="BB62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All Fall 2019 Courses will have this symbol.</a:t>
            </a:r>
            <a:endParaRPr b="1" i="0" sz="12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39" name="Google Shape;439;p9"/>
          <p:cNvSpPr/>
          <p:nvPr/>
        </p:nvSpPr>
        <p:spPr>
          <a:xfrm>
            <a:off x="6996850" y="4364750"/>
            <a:ext cx="1039200" cy="864600"/>
          </a:xfrm>
          <a:prstGeom prst="rect">
            <a:avLst/>
          </a:prstGeom>
          <a:solidFill>
            <a:schemeClr val="accent6"/>
          </a:solidFill>
          <a:ln cap="flat" cmpd="sng" w="15875">
            <a:solidFill>
              <a:srgbClr val="BB62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All TC’s or PC’s will have this symbol.</a:t>
            </a:r>
            <a:endParaRPr b="1" i="0" sz="12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g6225e60770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1154" y="218488"/>
            <a:ext cx="3799592" cy="3196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g6225e60770_0_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85525" y="2823775"/>
            <a:ext cx="4255100" cy="388182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g6225e60770_0_25"/>
          <p:cNvSpPr txBox="1"/>
          <p:nvPr>
            <p:ph type="title"/>
          </p:nvPr>
        </p:nvSpPr>
        <p:spPr>
          <a:xfrm>
            <a:off x="822129" y="2349925"/>
            <a:ext cx="3658500" cy="24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Rockwell"/>
              <a:buNone/>
            </a:pPr>
            <a:r>
              <a:rPr b="1" lang="en-US" sz="3600">
                <a:solidFill>
                  <a:schemeClr val="accent6"/>
                </a:solidFill>
                <a:latin typeface="Rockwell"/>
                <a:ea typeface="Rockwell"/>
                <a:cs typeface="Rockwell"/>
                <a:sym typeface="Rockwell"/>
              </a:rPr>
              <a:t>ST</a:t>
            </a:r>
            <a:r>
              <a:rPr b="1" lang="en-US" sz="36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udent </a:t>
            </a:r>
            <a:r>
              <a:rPr b="1" lang="en-US" sz="3600">
                <a:solidFill>
                  <a:schemeClr val="accent6"/>
                </a:solidFill>
                <a:latin typeface="Rockwell"/>
                <a:ea typeface="Rockwell"/>
                <a:cs typeface="Rockwell"/>
                <a:sym typeface="Rockwell"/>
              </a:rPr>
              <a:t>A</a:t>
            </a:r>
            <a:r>
              <a:rPr b="1" lang="en-US" sz="36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dvisement </a:t>
            </a:r>
            <a:r>
              <a:rPr b="1" lang="en-US" sz="3600">
                <a:solidFill>
                  <a:schemeClr val="accent6"/>
                </a:solidFill>
                <a:latin typeface="Rockwell"/>
                <a:ea typeface="Rockwell"/>
                <a:cs typeface="Rockwell"/>
                <a:sym typeface="Rockwell"/>
              </a:rPr>
              <a:t>R</a:t>
            </a:r>
            <a:r>
              <a:rPr b="1" lang="en-US" sz="36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eport - cont.’d</a:t>
            </a:r>
            <a:endParaRPr b="1" sz="4400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47" name="Google Shape;447;g6225e60770_0_25"/>
          <p:cNvSpPr/>
          <p:nvPr/>
        </p:nvSpPr>
        <p:spPr>
          <a:xfrm rot="1586125">
            <a:off x="5391014" y="3179781"/>
            <a:ext cx="118601" cy="1330243"/>
          </a:xfrm>
          <a:prstGeom prst="upArrow">
            <a:avLst>
              <a:gd fmla="val 33375" name="adj1"/>
              <a:gd fmla="val 49957" name="adj2"/>
            </a:avLst>
          </a:prstGeom>
          <a:solidFill>
            <a:srgbClr val="FF0000"/>
          </a:solidFill>
          <a:ln cap="flat" cmpd="sng" w="1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g6225e60770_0_25"/>
          <p:cNvSpPr/>
          <p:nvPr/>
        </p:nvSpPr>
        <p:spPr>
          <a:xfrm rot="7266786">
            <a:off x="4817474" y="903402"/>
            <a:ext cx="118437" cy="1330282"/>
          </a:xfrm>
          <a:prstGeom prst="upArrow">
            <a:avLst>
              <a:gd fmla="val 33375" name="adj1"/>
              <a:gd fmla="val 49957" name="adj2"/>
            </a:avLst>
          </a:prstGeom>
          <a:solidFill>
            <a:srgbClr val="FF0000"/>
          </a:solidFill>
          <a:ln cap="flat" cmpd="sng" w="1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g6225e60770_0_25"/>
          <p:cNvSpPr/>
          <p:nvPr/>
        </p:nvSpPr>
        <p:spPr>
          <a:xfrm rot="-10398427">
            <a:off x="10955694" y="1907819"/>
            <a:ext cx="118407" cy="2266312"/>
          </a:xfrm>
          <a:prstGeom prst="upArrow">
            <a:avLst>
              <a:gd fmla="val 33375" name="adj1"/>
              <a:gd fmla="val 49957" name="adj2"/>
            </a:avLst>
          </a:prstGeom>
          <a:solidFill>
            <a:srgbClr val="FF0000"/>
          </a:solidFill>
          <a:ln cap="flat" cmpd="sng" w="1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g6225e60770_0_25"/>
          <p:cNvSpPr/>
          <p:nvPr/>
        </p:nvSpPr>
        <p:spPr>
          <a:xfrm>
            <a:off x="4759875" y="4364750"/>
            <a:ext cx="1039200" cy="1134000"/>
          </a:xfrm>
          <a:prstGeom prst="rect">
            <a:avLst/>
          </a:prstGeom>
          <a:solidFill>
            <a:schemeClr val="accent6"/>
          </a:solidFill>
          <a:ln cap="flat" cmpd="sng" w="15875">
            <a:solidFill>
              <a:srgbClr val="BB62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Your Current cGPA vs. required University cGPA</a:t>
            </a:r>
            <a:endParaRPr b="1" i="0" sz="12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51" name="Google Shape;451;g6225e60770_0_25"/>
          <p:cNvSpPr/>
          <p:nvPr/>
        </p:nvSpPr>
        <p:spPr>
          <a:xfrm>
            <a:off x="10386350" y="1810325"/>
            <a:ext cx="1396200" cy="387900"/>
          </a:xfrm>
          <a:prstGeom prst="rect">
            <a:avLst/>
          </a:prstGeom>
          <a:solidFill>
            <a:schemeClr val="accent6"/>
          </a:solidFill>
          <a:ln cap="flat" cmpd="sng" w="15875">
            <a:solidFill>
              <a:srgbClr val="BB62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Core Requirements</a:t>
            </a:r>
            <a:endParaRPr b="1" i="0" sz="12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52" name="Google Shape;452;g6225e60770_0_25"/>
          <p:cNvSpPr/>
          <p:nvPr/>
        </p:nvSpPr>
        <p:spPr>
          <a:xfrm>
            <a:off x="2124075" y="307100"/>
            <a:ext cx="2635800" cy="1134000"/>
          </a:xfrm>
          <a:prstGeom prst="rect">
            <a:avLst/>
          </a:prstGeom>
          <a:solidFill>
            <a:schemeClr val="accent6"/>
          </a:solidFill>
          <a:ln cap="flat" cmpd="sng" w="15875">
            <a:solidFill>
              <a:srgbClr val="BB62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Total Credits required for your degree, number of credits you've taken and are in progress, how many credits you have left to complete your degree</a:t>
            </a:r>
            <a:endParaRPr b="1" i="0" sz="12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g6225e60770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0675" y="292287"/>
            <a:ext cx="4889100" cy="6571674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g6225e60770_0_10"/>
          <p:cNvSpPr txBox="1"/>
          <p:nvPr>
            <p:ph type="title"/>
          </p:nvPr>
        </p:nvSpPr>
        <p:spPr>
          <a:xfrm>
            <a:off x="822129" y="2349925"/>
            <a:ext cx="3658500" cy="24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Rockwell"/>
              <a:buNone/>
            </a:pPr>
            <a:r>
              <a:rPr b="1" lang="en-US" sz="3600" cap="none">
                <a:solidFill>
                  <a:schemeClr val="accent6"/>
                </a:solidFill>
                <a:latin typeface="Rockwell"/>
                <a:ea typeface="Rockwell"/>
                <a:cs typeface="Rockwell"/>
                <a:sym typeface="Rockwell"/>
              </a:rPr>
              <a:t>ST</a:t>
            </a:r>
            <a:r>
              <a:rPr b="1" lang="en-US" sz="3600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udent </a:t>
            </a:r>
            <a:r>
              <a:rPr b="1" lang="en-US" sz="3600" cap="none">
                <a:solidFill>
                  <a:schemeClr val="accent6"/>
                </a:solidFill>
                <a:latin typeface="Rockwell"/>
                <a:ea typeface="Rockwell"/>
                <a:cs typeface="Rockwell"/>
                <a:sym typeface="Rockwell"/>
              </a:rPr>
              <a:t>A</a:t>
            </a:r>
            <a:r>
              <a:rPr b="1" lang="en-US" sz="3600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dvisement </a:t>
            </a:r>
            <a:r>
              <a:rPr b="1" lang="en-US" sz="3600" cap="none">
                <a:solidFill>
                  <a:schemeClr val="accent6"/>
                </a:solidFill>
                <a:latin typeface="Rockwell"/>
                <a:ea typeface="Rockwell"/>
                <a:cs typeface="Rockwell"/>
                <a:sym typeface="Rockwell"/>
              </a:rPr>
              <a:t>R</a:t>
            </a:r>
            <a:r>
              <a:rPr b="1" lang="en-US" sz="3600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eport - cont.</a:t>
            </a:r>
            <a:r>
              <a:rPr b="1" lang="en-US" sz="36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’d</a:t>
            </a:r>
            <a:endParaRPr b="1" sz="3600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59" name="Google Shape;459;g6225e60770_0_10"/>
          <p:cNvSpPr/>
          <p:nvPr/>
        </p:nvSpPr>
        <p:spPr>
          <a:xfrm rot="5243451">
            <a:off x="6253042" y="630698"/>
            <a:ext cx="118623" cy="483456"/>
          </a:xfrm>
          <a:prstGeom prst="upArrow">
            <a:avLst>
              <a:gd fmla="val 33375" name="adj1"/>
              <a:gd fmla="val 49957" name="adj2"/>
            </a:avLst>
          </a:prstGeom>
          <a:solidFill>
            <a:srgbClr val="FF0000"/>
          </a:solidFill>
          <a:ln cap="flat" cmpd="sng" w="1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6225e60770_0_10"/>
          <p:cNvSpPr/>
          <p:nvPr/>
        </p:nvSpPr>
        <p:spPr>
          <a:xfrm rot="7586019">
            <a:off x="5625998" y="1210809"/>
            <a:ext cx="118203" cy="1511984"/>
          </a:xfrm>
          <a:prstGeom prst="upArrow">
            <a:avLst>
              <a:gd fmla="val 33375" name="adj1"/>
              <a:gd fmla="val 49957" name="adj2"/>
            </a:avLst>
          </a:prstGeom>
          <a:solidFill>
            <a:srgbClr val="FF0000"/>
          </a:solidFill>
          <a:ln cap="flat" cmpd="sng" w="1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6225e60770_0_10"/>
          <p:cNvSpPr/>
          <p:nvPr/>
        </p:nvSpPr>
        <p:spPr>
          <a:xfrm rot="8674819">
            <a:off x="5636430" y="1210913"/>
            <a:ext cx="118538" cy="2494671"/>
          </a:xfrm>
          <a:prstGeom prst="upArrow">
            <a:avLst>
              <a:gd fmla="val 33375" name="adj1"/>
              <a:gd fmla="val 49957" name="adj2"/>
            </a:avLst>
          </a:prstGeom>
          <a:solidFill>
            <a:srgbClr val="FF0000"/>
          </a:solidFill>
          <a:ln cap="flat" cmpd="sng" w="1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6225e60770_0_10"/>
          <p:cNvSpPr/>
          <p:nvPr/>
        </p:nvSpPr>
        <p:spPr>
          <a:xfrm rot="6709699">
            <a:off x="5767694" y="648021"/>
            <a:ext cx="118604" cy="1330324"/>
          </a:xfrm>
          <a:prstGeom prst="upArrow">
            <a:avLst>
              <a:gd fmla="val 33375" name="adj1"/>
              <a:gd fmla="val 49957" name="adj2"/>
            </a:avLst>
          </a:prstGeom>
          <a:solidFill>
            <a:srgbClr val="FF0000"/>
          </a:solidFill>
          <a:ln cap="flat" cmpd="sng" w="1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6225e60770_0_10"/>
          <p:cNvSpPr/>
          <p:nvPr/>
        </p:nvSpPr>
        <p:spPr>
          <a:xfrm rot="9116673">
            <a:off x="5495305" y="1189802"/>
            <a:ext cx="118641" cy="3296347"/>
          </a:xfrm>
          <a:prstGeom prst="upArrow">
            <a:avLst>
              <a:gd fmla="val 33375" name="adj1"/>
              <a:gd fmla="val 49957" name="adj2"/>
            </a:avLst>
          </a:prstGeom>
          <a:solidFill>
            <a:srgbClr val="FF0000"/>
          </a:solidFill>
          <a:ln cap="flat" cmpd="sng" w="1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g6225e60770_0_10"/>
          <p:cNvSpPr/>
          <p:nvPr/>
        </p:nvSpPr>
        <p:spPr>
          <a:xfrm>
            <a:off x="4480625" y="292275"/>
            <a:ext cx="1628700" cy="1324200"/>
          </a:xfrm>
          <a:prstGeom prst="rect">
            <a:avLst/>
          </a:prstGeom>
          <a:solidFill>
            <a:schemeClr val="accent6"/>
          </a:solidFill>
          <a:ln cap="flat" cmpd="sng" w="15875">
            <a:solidFill>
              <a:srgbClr val="BB62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Specific Grade Requirements for major related courses as well as math and science</a:t>
            </a:r>
            <a:endParaRPr b="1" i="0" sz="12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g63e0ec693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6125" y="2216988"/>
            <a:ext cx="6370350" cy="272227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g63e0ec6939_0_0"/>
          <p:cNvSpPr txBox="1"/>
          <p:nvPr>
            <p:ph type="title"/>
          </p:nvPr>
        </p:nvSpPr>
        <p:spPr>
          <a:xfrm>
            <a:off x="822129" y="2349925"/>
            <a:ext cx="3658500" cy="24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Rockwell"/>
              <a:buNone/>
            </a:pPr>
            <a:r>
              <a:rPr b="1" lang="en-US" sz="3600" cap="none">
                <a:solidFill>
                  <a:schemeClr val="accent6"/>
                </a:solidFill>
                <a:latin typeface="Rockwell"/>
                <a:ea typeface="Rockwell"/>
                <a:cs typeface="Rockwell"/>
                <a:sym typeface="Rockwell"/>
              </a:rPr>
              <a:t>ST</a:t>
            </a:r>
            <a:r>
              <a:rPr b="1" lang="en-US" sz="3600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udent </a:t>
            </a:r>
            <a:r>
              <a:rPr b="1" lang="en-US" sz="3600" cap="none">
                <a:solidFill>
                  <a:schemeClr val="accent6"/>
                </a:solidFill>
                <a:latin typeface="Rockwell"/>
                <a:ea typeface="Rockwell"/>
                <a:cs typeface="Rockwell"/>
                <a:sym typeface="Rockwell"/>
              </a:rPr>
              <a:t>A</a:t>
            </a:r>
            <a:r>
              <a:rPr b="1" lang="en-US" sz="3600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dvisement </a:t>
            </a:r>
            <a:r>
              <a:rPr b="1" lang="en-US" sz="3600" cap="none">
                <a:solidFill>
                  <a:schemeClr val="accent6"/>
                </a:solidFill>
                <a:latin typeface="Rockwell"/>
                <a:ea typeface="Rockwell"/>
                <a:cs typeface="Rockwell"/>
                <a:sym typeface="Rockwell"/>
              </a:rPr>
              <a:t>R</a:t>
            </a:r>
            <a:r>
              <a:rPr b="1" lang="en-US" sz="3600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eport - cont.</a:t>
            </a:r>
            <a:r>
              <a:rPr b="1" lang="en-US" sz="36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’d</a:t>
            </a:r>
            <a:endParaRPr b="1" sz="3600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71" name="Google Shape;471;g63e0ec6939_0_0"/>
          <p:cNvSpPr/>
          <p:nvPr/>
        </p:nvSpPr>
        <p:spPr>
          <a:xfrm flipH="1" rot="-8921614">
            <a:off x="7540900" y="907505"/>
            <a:ext cx="172050" cy="1561891"/>
          </a:xfrm>
          <a:prstGeom prst="upArrow">
            <a:avLst>
              <a:gd fmla="val 33375" name="adj1"/>
              <a:gd fmla="val 49957" name="adj2"/>
            </a:avLst>
          </a:prstGeom>
          <a:solidFill>
            <a:srgbClr val="FF0000"/>
          </a:solidFill>
          <a:ln cap="flat" cmpd="sng" w="1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63e0ec6939_0_0"/>
          <p:cNvSpPr/>
          <p:nvPr/>
        </p:nvSpPr>
        <p:spPr>
          <a:xfrm>
            <a:off x="7735300" y="292275"/>
            <a:ext cx="2270400" cy="1814100"/>
          </a:xfrm>
          <a:prstGeom prst="rect">
            <a:avLst/>
          </a:prstGeom>
          <a:solidFill>
            <a:schemeClr val="accent6"/>
          </a:solidFill>
          <a:ln cap="flat" cmpd="sng" w="15875">
            <a:solidFill>
              <a:srgbClr val="BB62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Courses that do not apply towards your degree such as “W or F” grades, course(s) from a different major, grades that fall below major requirements or some pre-requisite courses</a:t>
            </a:r>
            <a:endParaRPr b="1" i="0" sz="12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0"/>
          <p:cNvSpPr txBox="1"/>
          <p:nvPr>
            <p:ph type="ctrTitle"/>
          </p:nvPr>
        </p:nvSpPr>
        <p:spPr>
          <a:xfrm>
            <a:off x="1759236" y="2075504"/>
            <a:ext cx="8679915" cy="17487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400"/>
              <a:buFont typeface="Rockwell"/>
              <a:buNone/>
            </a:pPr>
            <a:r>
              <a:rPr b="1" lang="en-US">
                <a:solidFill>
                  <a:schemeClr val="accent6"/>
                </a:solidFill>
                <a:latin typeface="Rockwell"/>
                <a:ea typeface="Rockwell"/>
                <a:cs typeface="Rockwell"/>
                <a:sym typeface="Rockwell"/>
              </a:rPr>
              <a:t>How To Register</a:t>
            </a:r>
            <a:endParaRPr b="1">
              <a:solidFill>
                <a:schemeClr val="accent6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1"/>
          <p:cNvSpPr txBox="1"/>
          <p:nvPr>
            <p:ph type="title"/>
          </p:nvPr>
        </p:nvSpPr>
        <p:spPr>
          <a:xfrm>
            <a:off x="878095" y="2349925"/>
            <a:ext cx="3498979" cy="24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ckwell"/>
              <a:buNone/>
            </a:pPr>
            <a:r>
              <a:rPr b="1" lang="en-US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Schedule Planner</a:t>
            </a:r>
            <a:endParaRPr b="1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83" name="Google Shape;483;p11"/>
          <p:cNvSpPr txBox="1"/>
          <p:nvPr>
            <p:ph idx="1" type="body"/>
          </p:nvPr>
        </p:nvSpPr>
        <p:spPr>
          <a:xfrm>
            <a:off x="4929261" y="798011"/>
            <a:ext cx="6926408" cy="617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en-US"/>
              <a:t>NYIT Connect: Students &gt; Student Center &gt; Schedule Planner</a:t>
            </a:r>
            <a:endParaRPr/>
          </a:p>
        </p:txBody>
      </p:sp>
      <p:pic>
        <p:nvPicPr>
          <p:cNvPr id="484" name="Google Shape;484;p11"/>
          <p:cNvPicPr preferRelativeResize="0"/>
          <p:nvPr/>
        </p:nvPicPr>
        <p:blipFill rotWithShape="1">
          <a:blip r:embed="rId3">
            <a:alphaModFix/>
          </a:blip>
          <a:srcRect b="0" l="0" r="30030" t="0"/>
          <a:stretch/>
        </p:blipFill>
        <p:spPr>
          <a:xfrm>
            <a:off x="5923925" y="1412725"/>
            <a:ext cx="4765550" cy="433085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11"/>
          <p:cNvSpPr/>
          <p:nvPr/>
        </p:nvSpPr>
        <p:spPr>
          <a:xfrm>
            <a:off x="4863307" y="2673489"/>
            <a:ext cx="1140000" cy="315300"/>
          </a:xfrm>
          <a:prstGeom prst="rightArrow">
            <a:avLst>
              <a:gd fmla="val 37007" name="adj1"/>
              <a:gd fmla="val 48106" name="adj2"/>
            </a:avLst>
          </a:prstGeom>
          <a:solidFill>
            <a:srgbClr val="FF0000"/>
          </a:solidFill>
          <a:ln cap="flat" cmpd="sng" w="158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2"/>
          <p:cNvSpPr txBox="1"/>
          <p:nvPr>
            <p:ph type="title"/>
          </p:nvPr>
        </p:nvSpPr>
        <p:spPr>
          <a:xfrm>
            <a:off x="888631" y="2349925"/>
            <a:ext cx="3498979" cy="24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ckwell"/>
              <a:buNone/>
            </a:pPr>
            <a:r>
              <a:rPr b="1" lang="en-US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Schedule Planner – Cont.’d</a:t>
            </a:r>
            <a:endParaRPr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91" name="Google Shape;491;p12"/>
          <p:cNvSpPr txBox="1"/>
          <p:nvPr>
            <p:ph idx="1" type="body"/>
          </p:nvPr>
        </p:nvSpPr>
        <p:spPr>
          <a:xfrm>
            <a:off x="5149978" y="1198187"/>
            <a:ext cx="6281873" cy="1151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Select Term: </a:t>
            </a:r>
            <a:r>
              <a:rPr lang="en-US" u="sng"/>
              <a:t>Fall </a:t>
            </a:r>
            <a:r>
              <a:rPr lang="en-US" u="sng"/>
              <a:t>2020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Select Campus:New York City Campus</a:t>
            </a:r>
            <a:endParaRPr/>
          </a:p>
        </p:txBody>
      </p:sp>
      <p:pic>
        <p:nvPicPr>
          <p:cNvPr id="492" name="Google Shape;49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7633" y="2349925"/>
            <a:ext cx="5846968" cy="3714544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sp>
        <p:nvSpPr>
          <p:cNvPr id="493" name="Google Shape;493;p12"/>
          <p:cNvSpPr/>
          <p:nvPr/>
        </p:nvSpPr>
        <p:spPr>
          <a:xfrm>
            <a:off x="7914290" y="4361793"/>
            <a:ext cx="557048" cy="147145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3"/>
          <p:cNvSpPr txBox="1"/>
          <p:nvPr>
            <p:ph type="title"/>
          </p:nvPr>
        </p:nvSpPr>
        <p:spPr>
          <a:xfrm>
            <a:off x="888631" y="2349925"/>
            <a:ext cx="3498979" cy="24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ckwell"/>
              <a:buNone/>
            </a:pPr>
            <a:r>
              <a:rPr b="1" lang="en-US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Add Courses</a:t>
            </a:r>
            <a:endParaRPr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499" name="Google Shape;499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2764" y="340879"/>
            <a:ext cx="5784626" cy="2901140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sp>
        <p:nvSpPr>
          <p:cNvPr id="500" name="Google Shape;500;p13"/>
          <p:cNvSpPr/>
          <p:nvPr/>
        </p:nvSpPr>
        <p:spPr>
          <a:xfrm>
            <a:off x="10773100" y="2472078"/>
            <a:ext cx="1030014" cy="852716"/>
          </a:xfrm>
          <a:prstGeom prst="rect">
            <a:avLst/>
          </a:prstGeom>
          <a:solidFill>
            <a:schemeClr val="accent6"/>
          </a:solidFill>
          <a:ln cap="flat" cmpd="sng" w="15875">
            <a:solidFill>
              <a:srgbClr val="BB62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Build your list of courses here</a:t>
            </a:r>
            <a:endParaRPr b="1" i="0" sz="12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01" name="Google Shape;501;p13"/>
          <p:cNvSpPr/>
          <p:nvPr/>
        </p:nvSpPr>
        <p:spPr>
          <a:xfrm rot="8660885">
            <a:off x="10141811" y="1192504"/>
            <a:ext cx="375316" cy="13825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502" name="Google Shape;50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2764" y="3578146"/>
            <a:ext cx="5784626" cy="2576788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sp>
        <p:nvSpPr>
          <p:cNvPr id="503" name="Google Shape;503;p13"/>
          <p:cNvSpPr/>
          <p:nvPr/>
        </p:nvSpPr>
        <p:spPr>
          <a:xfrm rot="2378419">
            <a:off x="10246689" y="3251446"/>
            <a:ext cx="375316" cy="959329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4"/>
          <p:cNvSpPr txBox="1"/>
          <p:nvPr>
            <p:ph type="title"/>
          </p:nvPr>
        </p:nvSpPr>
        <p:spPr>
          <a:xfrm>
            <a:off x="888631" y="2349925"/>
            <a:ext cx="3498979" cy="24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ckwell"/>
              <a:buNone/>
            </a:pPr>
            <a:r>
              <a:rPr b="1" lang="en-US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Generate Schedules</a:t>
            </a:r>
            <a:endParaRPr b="1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509" name="Google Shape;509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6871" y="571339"/>
            <a:ext cx="6281738" cy="3006807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sp>
        <p:nvSpPr>
          <p:cNvPr id="510" name="Google Shape;510;p14"/>
          <p:cNvSpPr/>
          <p:nvPr/>
        </p:nvSpPr>
        <p:spPr>
          <a:xfrm rot="10800000">
            <a:off x="5255171" y="3570775"/>
            <a:ext cx="515007" cy="146998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11" name="Google Shape;511;p14"/>
          <p:cNvSpPr/>
          <p:nvPr/>
        </p:nvSpPr>
        <p:spPr>
          <a:xfrm rot="10800000">
            <a:off x="10494578" y="975904"/>
            <a:ext cx="515007" cy="157728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9848192" y="2672183"/>
            <a:ext cx="1807778" cy="1101031"/>
          </a:xfrm>
          <a:prstGeom prst="rect">
            <a:avLst/>
          </a:prstGeom>
          <a:solidFill>
            <a:schemeClr val="accent6"/>
          </a:solidFill>
          <a:ln cap="flat" cmpd="sng" w="15875">
            <a:solidFill>
              <a:srgbClr val="BB62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sng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Add a Break: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Do you have a work schedule to accommodate? A commute?</a:t>
            </a:r>
            <a:endParaRPr b="1" i="0" sz="12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4817675" y="5187929"/>
            <a:ext cx="1389997" cy="1389653"/>
          </a:xfrm>
          <a:prstGeom prst="rect">
            <a:avLst/>
          </a:prstGeom>
          <a:solidFill>
            <a:schemeClr val="accent6"/>
          </a:solidFill>
          <a:ln cap="flat" cmpd="sng" w="15875">
            <a:solidFill>
              <a:srgbClr val="BB62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Once you’ve added all of your classes (and a break), click “Generate Schedules”</a:t>
            </a:r>
            <a:endParaRPr b="1" i="0" sz="12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14" name="Google Shape;514;p14"/>
          <p:cNvSpPr txBox="1"/>
          <p:nvPr/>
        </p:nvSpPr>
        <p:spPr>
          <a:xfrm>
            <a:off x="6463771" y="4305767"/>
            <a:ext cx="4925555" cy="1151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To look at schedules, click “view” next to the options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You can favorite schedules as well.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g63f7dd79d6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8650" y="2935050"/>
            <a:ext cx="6271900" cy="1871002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g63f7dd79d6_0_3"/>
          <p:cNvSpPr txBox="1"/>
          <p:nvPr>
            <p:ph type="title"/>
          </p:nvPr>
        </p:nvSpPr>
        <p:spPr>
          <a:xfrm>
            <a:off x="888631" y="2349925"/>
            <a:ext cx="3498900" cy="24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ckwell"/>
              <a:buNone/>
            </a:pPr>
            <a:r>
              <a:rPr b="1" lang="en-US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Select Schedule</a:t>
            </a:r>
            <a:endParaRPr b="1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21" name="Google Shape;521;g63f7dd79d6_0_3"/>
          <p:cNvSpPr/>
          <p:nvPr/>
        </p:nvSpPr>
        <p:spPr>
          <a:xfrm>
            <a:off x="7968678" y="1547883"/>
            <a:ext cx="515100" cy="1470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22" name="Google Shape;522;g63f7dd79d6_0_3"/>
          <p:cNvSpPr/>
          <p:nvPr/>
        </p:nvSpPr>
        <p:spPr>
          <a:xfrm>
            <a:off x="9695210" y="1440487"/>
            <a:ext cx="515100" cy="1577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23" name="Google Shape;523;g63f7dd79d6_0_3"/>
          <p:cNvSpPr/>
          <p:nvPr/>
        </p:nvSpPr>
        <p:spPr>
          <a:xfrm>
            <a:off x="9452750" y="461323"/>
            <a:ext cx="1807800" cy="1389600"/>
          </a:xfrm>
          <a:prstGeom prst="rect">
            <a:avLst/>
          </a:prstGeom>
          <a:solidFill>
            <a:schemeClr val="accent6"/>
          </a:solidFill>
          <a:ln cap="flat" cmpd="sng" w="15875">
            <a:solidFill>
              <a:srgbClr val="BB62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Click “Send to Shopping Cart” to add this schedule of classes to your Enrollment Shopping Cart” in your Student Center</a:t>
            </a:r>
            <a:endParaRPr b="1" i="0" sz="12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24" name="Google Shape;524;g63f7dd79d6_0_3"/>
          <p:cNvSpPr/>
          <p:nvPr/>
        </p:nvSpPr>
        <p:spPr>
          <a:xfrm>
            <a:off x="7531275" y="461329"/>
            <a:ext cx="1389900" cy="1389600"/>
          </a:xfrm>
          <a:prstGeom prst="rect">
            <a:avLst/>
          </a:prstGeom>
          <a:solidFill>
            <a:schemeClr val="accent6"/>
          </a:solidFill>
          <a:ln cap="flat" cmpd="sng" w="15875">
            <a:solidFill>
              <a:srgbClr val="BB62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Click “Validate” to make sure there are no conflicts</a:t>
            </a:r>
            <a:endParaRPr b="1" i="0" sz="12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5"/>
          <p:cNvSpPr txBox="1"/>
          <p:nvPr>
            <p:ph type="title"/>
          </p:nvPr>
        </p:nvSpPr>
        <p:spPr>
          <a:xfrm>
            <a:off x="888631" y="2349925"/>
            <a:ext cx="3498979" cy="24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ckwell"/>
              <a:buNone/>
            </a:pPr>
            <a:r>
              <a:rPr b="1" lang="en-US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Enrollment Shopping Cart</a:t>
            </a:r>
            <a:endParaRPr b="1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30" name="Google Shape;530;p15"/>
          <p:cNvSpPr txBox="1"/>
          <p:nvPr>
            <p:ph idx="1" type="body"/>
          </p:nvPr>
        </p:nvSpPr>
        <p:spPr>
          <a:xfrm>
            <a:off x="5118450" y="-62501"/>
            <a:ext cx="6282000" cy="58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32"/>
              <a:buChar char="▪"/>
            </a:pPr>
            <a:r>
              <a:rPr lang="en-US" sz="1665"/>
              <a:t>Head back to your </a:t>
            </a:r>
            <a:r>
              <a:rPr lang="en-US" sz="1665">
                <a:solidFill>
                  <a:schemeClr val="accent6"/>
                </a:solidFill>
              </a:rPr>
              <a:t>Student Center</a:t>
            </a:r>
            <a:r>
              <a:rPr lang="en-US" sz="1665"/>
              <a:t> &gt; </a:t>
            </a:r>
            <a:r>
              <a:rPr lang="en-US" sz="1665">
                <a:solidFill>
                  <a:schemeClr val="accent6"/>
                </a:solidFill>
              </a:rPr>
              <a:t>“Enrollment Shopping Cart”</a:t>
            </a:r>
            <a:r>
              <a:rPr lang="en-US" sz="1665"/>
              <a:t> (under your current list of classes)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32"/>
              <a:buChar char="▪"/>
            </a:pPr>
            <a:r>
              <a:rPr lang="en-US" sz="1665"/>
              <a:t>Then select </a:t>
            </a:r>
            <a:r>
              <a:rPr lang="en-US" sz="1665">
                <a:solidFill>
                  <a:schemeClr val="accent6"/>
                </a:solidFill>
              </a:rPr>
              <a:t>Fall</a:t>
            </a:r>
            <a:r>
              <a:rPr lang="en-US" sz="1665">
                <a:solidFill>
                  <a:schemeClr val="accent6"/>
                </a:solidFill>
              </a:rPr>
              <a:t> 2020</a:t>
            </a:r>
            <a:r>
              <a:rPr lang="en-US" sz="1665"/>
              <a:t> as the term.</a:t>
            </a:r>
            <a:endParaRPr sz="1665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 sz="1665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 sz="1665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 sz="1665"/>
          </a:p>
          <a:p>
            <a:pPr indent="-112298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32"/>
              <a:buNone/>
            </a:pPr>
            <a:r>
              <a:t/>
            </a:r>
            <a:endParaRPr sz="1665"/>
          </a:p>
          <a:p>
            <a:pPr indent="-112298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32"/>
              <a:buNone/>
            </a:pPr>
            <a:r>
              <a:t/>
            </a:r>
            <a:endParaRPr sz="1665"/>
          </a:p>
          <a:p>
            <a:pPr indent="-112298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32"/>
              <a:buNone/>
            </a:pPr>
            <a:r>
              <a:t/>
            </a:r>
            <a:endParaRPr sz="1665"/>
          </a:p>
          <a:p>
            <a:pPr indent="-112298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32"/>
              <a:buNone/>
            </a:pPr>
            <a:r>
              <a:t/>
            </a:r>
            <a:endParaRPr sz="1665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32"/>
              <a:buNone/>
            </a:pPr>
            <a:r>
              <a:t/>
            </a:r>
            <a:endParaRPr sz="1665"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32"/>
              <a:buChar char="▪"/>
            </a:pPr>
            <a:r>
              <a:rPr lang="en-US" sz="1665">
                <a:solidFill>
                  <a:schemeClr val="accent6"/>
                </a:solidFill>
              </a:rPr>
              <a:t>“Import Cart”</a:t>
            </a:r>
            <a:r>
              <a:rPr lang="en-US" sz="1665"/>
              <a:t> &gt; </a:t>
            </a:r>
            <a:r>
              <a:rPr lang="en-US" sz="1665">
                <a:solidFill>
                  <a:srgbClr val="FF9900"/>
                </a:solidFill>
              </a:rPr>
              <a:t>“Next”</a:t>
            </a:r>
            <a:endParaRPr sz="1665"/>
          </a:p>
          <a:p>
            <a:pPr indent="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</a:pPr>
            <a:r>
              <a:rPr lang="en-US" sz="1665"/>
              <a:t>through all of the classes you</a:t>
            </a:r>
            <a:endParaRPr sz="1665"/>
          </a:p>
          <a:p>
            <a:pPr indent="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</a:pPr>
            <a:r>
              <a:rPr lang="en-US" sz="1665"/>
              <a:t>chose.</a:t>
            </a:r>
            <a:endParaRPr/>
          </a:p>
        </p:txBody>
      </p:sp>
      <p:pic>
        <p:nvPicPr>
          <p:cNvPr descr="https://lh3.googleusercontent.com/4jxuSeLCFFtUDaFPsLLWjFwyOfOVY_SftCPo66wc5Au6UOiHhQaOK3BJoc8n2uh0qJJpEzUTyiyrkoZCaWaRWjOlZsDKHgRPbTi4IQSp6TqWLtUzyI3kdQIV6RJWPPHX5rbkxgfq" id="531" name="Google Shape;53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0539" y="2186001"/>
            <a:ext cx="5457825" cy="1600200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id="532" name="Google Shape;53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1200" y="1344024"/>
            <a:ext cx="4473324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83200" y="3973675"/>
            <a:ext cx="3004531" cy="2646975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15"/>
          <p:cNvSpPr/>
          <p:nvPr/>
        </p:nvSpPr>
        <p:spPr>
          <a:xfrm>
            <a:off x="10913600" y="5955725"/>
            <a:ext cx="574200" cy="473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5" name="Google Shape;535;p15"/>
          <p:cNvCxnSpPr>
            <a:endCxn id="534" idx="1"/>
          </p:cNvCxnSpPr>
          <p:nvPr/>
        </p:nvCxnSpPr>
        <p:spPr>
          <a:xfrm>
            <a:off x="7805390" y="4692797"/>
            <a:ext cx="3192300" cy="1332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6" name="Google Shape;536;p15"/>
          <p:cNvCxnSpPr/>
          <p:nvPr/>
        </p:nvCxnSpPr>
        <p:spPr>
          <a:xfrm flipH="1" rot="10800000">
            <a:off x="6137675" y="3706000"/>
            <a:ext cx="1628100" cy="799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63f7dd79d6_0_24"/>
          <p:cNvSpPr txBox="1"/>
          <p:nvPr>
            <p:ph type="title"/>
          </p:nvPr>
        </p:nvSpPr>
        <p:spPr>
          <a:xfrm>
            <a:off x="888631" y="2349925"/>
            <a:ext cx="3498900" cy="24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ckwell"/>
              <a:buNone/>
            </a:pPr>
            <a:r>
              <a:rPr b="1" lang="en-US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Enrolling in Classes</a:t>
            </a:r>
            <a:endParaRPr b="1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42" name="Google Shape;542;g63f7dd79d6_0_24"/>
          <p:cNvSpPr txBox="1"/>
          <p:nvPr>
            <p:ph idx="1" type="body"/>
          </p:nvPr>
        </p:nvSpPr>
        <p:spPr>
          <a:xfrm>
            <a:off x="5118450" y="394699"/>
            <a:ext cx="6282000" cy="10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</a:pPr>
            <a:r>
              <a:rPr lang="en-US" sz="1665"/>
              <a:t>These classes will stay in your cart until your Enrollment Date. On that day, you can </a:t>
            </a:r>
            <a:r>
              <a:rPr lang="en-US" sz="1665" u="sng"/>
              <a:t>check off</a:t>
            </a:r>
            <a:r>
              <a:rPr lang="en-US" sz="1665"/>
              <a:t> each class and click </a:t>
            </a:r>
            <a:r>
              <a:rPr lang="en-US" sz="1665">
                <a:solidFill>
                  <a:schemeClr val="accent6"/>
                </a:solidFill>
              </a:rPr>
              <a:t>“Enroll”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543" name="Google Shape;543;g63f7dd79d6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4625" y="1440800"/>
            <a:ext cx="4573451" cy="4832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4" name="Google Shape;544;g63f7dd79d6_0_24"/>
          <p:cNvCxnSpPr/>
          <p:nvPr/>
        </p:nvCxnSpPr>
        <p:spPr>
          <a:xfrm>
            <a:off x="7607950" y="1223575"/>
            <a:ext cx="78900" cy="1529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5" name="Google Shape;545;g63f7dd79d6_0_24"/>
          <p:cNvCxnSpPr/>
          <p:nvPr/>
        </p:nvCxnSpPr>
        <p:spPr>
          <a:xfrm flipH="1">
            <a:off x="10311675" y="1223575"/>
            <a:ext cx="276300" cy="4657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6"/>
          <p:cNvSpPr txBox="1"/>
          <p:nvPr>
            <p:ph type="title"/>
          </p:nvPr>
        </p:nvSpPr>
        <p:spPr>
          <a:xfrm>
            <a:off x="3344216" y="2074730"/>
            <a:ext cx="5490224" cy="16893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600"/>
              <a:buFont typeface="Rockwell"/>
              <a:buNone/>
            </a:pPr>
            <a:r>
              <a:rPr b="1" lang="en-US" sz="6600">
                <a:solidFill>
                  <a:schemeClr val="accent6"/>
                </a:solidFill>
                <a:latin typeface="Rockwell"/>
                <a:ea typeface="Rockwell"/>
                <a:cs typeface="Rockwell"/>
                <a:sym typeface="Rockwell"/>
              </a:rPr>
              <a:t>Questions?</a:t>
            </a:r>
            <a:endParaRPr b="1" sz="6600">
              <a:solidFill>
                <a:schemeClr val="accent6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600"/>
              <a:buFont typeface="Rockwell"/>
              <a:buNone/>
            </a:pPr>
            <a:r>
              <a:rPr b="1" lang="en-US" sz="180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Contact AEC</a:t>
            </a:r>
            <a:br>
              <a:rPr b="1" lang="en-US" sz="180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b="1" lang="en-US" sz="180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 aec@nyit.edu</a:t>
            </a:r>
            <a:endParaRPr b="1" sz="1800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Atlas">
  <a:themeElements>
    <a:clrScheme name="Atlas">
      <a:dk1>
        <a:srgbClr val="000000"/>
      </a:dk1>
      <a:lt1>
        <a:srgbClr val="FFFFFF"/>
      </a:lt1>
      <a:dk2>
        <a:srgbClr val="454545"/>
      </a:dk2>
      <a:lt2>
        <a:srgbClr val="E0E0E0"/>
      </a:lt2>
      <a:accent1>
        <a:srgbClr val="10B6F4"/>
      </a:accent1>
      <a:accent2>
        <a:srgbClr val="3C78C3"/>
      </a:accent2>
      <a:accent3>
        <a:srgbClr val="9F52D0"/>
      </a:accent3>
      <a:accent4>
        <a:srgbClr val="D64198"/>
      </a:accent4>
      <a:accent5>
        <a:srgbClr val="DA2228"/>
      </a:accent5>
      <a:accent6>
        <a:srgbClr val="F18318"/>
      </a:accent6>
      <a:hlink>
        <a:srgbClr val="38DDEC"/>
      </a:hlink>
      <a:folHlink>
        <a:srgbClr val="A8DE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2019-09-25T17:10:41Z</dcterms:created>
  <dc:creator>Mikki Rosman</dc:creator>
</cp:coreProperties>
</file>